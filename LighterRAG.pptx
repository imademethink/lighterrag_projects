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67" r:id="rId2"/>
    <p:sldId id="275" r:id="rId3"/>
    <p:sldId id="265" r:id="rId4"/>
    <p:sldId id="277" r:id="rId5"/>
    <p:sldId id="280" r:id="rId6"/>
    <p:sldId id="281" r:id="rId7"/>
    <p:sldId id="27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17" autoAdjust="0"/>
    <p:restoredTop sz="88526" autoAdjust="0"/>
  </p:normalViewPr>
  <p:slideViewPr>
    <p:cSldViewPr snapToGrid="0">
      <p:cViewPr varScale="1">
        <p:scale>
          <a:sx n="96" d="100"/>
          <a:sy n="96" d="100"/>
        </p:scale>
        <p:origin x="58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C6916-CA92-45C5-AEE9-64DE4C111123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62760-4E93-40BF-855E-460F7FAF35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868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emini.google.com/share/e09c13ec1073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81E9B-1D1F-0BFB-EA4E-0821A657C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E43AA5-B61E-B7F9-3460-77E573FF8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1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9181D-9B89-16B7-F629-5144C9ED3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5A56A1-F6AB-D5A2-DE83-01C5B7B7E9D8}"/>
              </a:ext>
            </a:extLst>
          </p:cNvPr>
          <p:cNvSpPr txBox="1">
            <a:spLocks/>
          </p:cNvSpPr>
          <p:nvPr/>
        </p:nvSpPr>
        <p:spPr>
          <a:xfrm>
            <a:off x="446076" y="342708"/>
            <a:ext cx="9914474" cy="5557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5400" b="1" dirty="0">
                <a:highlight>
                  <a:srgbClr val="C0C0C0"/>
                </a:highlight>
              </a:rPr>
              <a:t>LighterRAG demo</a:t>
            </a:r>
          </a:p>
          <a:p>
            <a:endParaRPr lang="en-IN" sz="5400" b="1" dirty="0">
              <a:highlight>
                <a:srgbClr val="C0C0C0"/>
              </a:highlight>
            </a:endParaRPr>
          </a:p>
          <a:p>
            <a:r>
              <a:rPr lang="en-US" sz="5400" dirty="0">
                <a:highlight>
                  <a:srgbClr val="C0C0C0"/>
                </a:highlight>
              </a:rPr>
              <a:t>Text</a:t>
            </a:r>
          </a:p>
          <a:p>
            <a:r>
              <a:rPr lang="en-US" sz="5400" dirty="0">
                <a:highlight>
                  <a:srgbClr val="C0C0C0"/>
                </a:highlight>
              </a:rPr>
              <a:t>Image</a:t>
            </a:r>
          </a:p>
          <a:p>
            <a:r>
              <a:rPr lang="en-US" sz="5400" dirty="0">
                <a:highlight>
                  <a:srgbClr val="C0C0C0"/>
                </a:highlight>
              </a:rPr>
              <a:t>Audio</a:t>
            </a:r>
          </a:p>
        </p:txBody>
      </p:sp>
    </p:spTree>
    <p:extLst>
      <p:ext uri="{BB962C8B-B14F-4D97-AF65-F5344CB8AC3E}">
        <p14:creationId xmlns:p14="http://schemas.microsoft.com/office/powerpoint/2010/main" val="4233987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6D5E5-A7B9-FAEB-394B-5BCE2E569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39B7A76-4F4A-F2E6-5546-355204D8902F}"/>
              </a:ext>
            </a:extLst>
          </p:cNvPr>
          <p:cNvSpPr txBox="1">
            <a:spLocks/>
          </p:cNvSpPr>
          <p:nvPr/>
        </p:nvSpPr>
        <p:spPr>
          <a:xfrm>
            <a:off x="1887524" y="259358"/>
            <a:ext cx="9555060" cy="1275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LighterRAG demo</a:t>
            </a:r>
          </a:p>
          <a:p>
            <a:r>
              <a:rPr lang="en-IN" sz="3300" b="1" dirty="0">
                <a:highlight>
                  <a:srgbClr val="C0C0C0"/>
                </a:highlight>
              </a:rPr>
              <a:t>Pseudo Retrieval-Augmented Generation</a:t>
            </a:r>
          </a:p>
          <a:p>
            <a:endParaRPr lang="en-IN" sz="3200" b="1" dirty="0">
              <a:highlight>
                <a:srgbClr val="C0C0C0"/>
              </a:highlight>
            </a:endParaRPr>
          </a:p>
          <a:p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35D192C-6AFE-271A-408D-F659DF692121}"/>
              </a:ext>
            </a:extLst>
          </p:cNvPr>
          <p:cNvSpPr txBox="1">
            <a:spLocks/>
          </p:cNvSpPr>
          <p:nvPr/>
        </p:nvSpPr>
        <p:spPr>
          <a:xfrm>
            <a:off x="729562" y="1535184"/>
            <a:ext cx="10596704" cy="5183667"/>
          </a:xfrm>
          <a:prstGeom prst="rect">
            <a:avLst/>
          </a:prstGeom>
        </p:spPr>
        <p:txBody>
          <a:bodyPr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/>
              <a:t>Respective Python library</a:t>
            </a:r>
          </a:p>
          <a:p>
            <a:pPr marL="0" indent="0">
              <a:buNone/>
            </a:pPr>
            <a:endParaRPr lang="en-IN" sz="3600" dirty="0"/>
          </a:p>
          <a:p>
            <a:pPr marL="457200" indent="-457200">
              <a:buFont typeface="+mj-lt"/>
              <a:buAutoNum type="arabicPeriod"/>
            </a:pPr>
            <a:r>
              <a:rPr lang="en-IN" sz="3600" dirty="0"/>
              <a:t>For Text : network, spacy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3600" dirty="0"/>
              <a:t>For Image : ultralytics, cv2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3600" dirty="0"/>
              <a:t>For Audio : pydub</a:t>
            </a:r>
            <a:r>
              <a:rPr lang="en-US" sz="3600" dirty="0"/>
              <a:t>, </a:t>
            </a:r>
            <a:r>
              <a:rPr lang="en-IN" sz="3600" dirty="0"/>
              <a:t>textblob, speech_recognition</a:t>
            </a:r>
          </a:p>
        </p:txBody>
      </p:sp>
    </p:spTree>
    <p:extLst>
      <p:ext uri="{BB962C8B-B14F-4D97-AF65-F5344CB8AC3E}">
        <p14:creationId xmlns:p14="http://schemas.microsoft.com/office/powerpoint/2010/main" val="413508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AE20C-C7F7-1C97-EFB9-4F1B421B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F7A9B9-1ED6-6908-89FE-3F618EEF418C}"/>
              </a:ext>
            </a:extLst>
          </p:cNvPr>
          <p:cNvSpPr txBox="1">
            <a:spLocks/>
          </p:cNvSpPr>
          <p:nvPr/>
        </p:nvSpPr>
        <p:spPr>
          <a:xfrm>
            <a:off x="1887524" y="259358"/>
            <a:ext cx="9555060" cy="1275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LighterRAG demo</a:t>
            </a:r>
          </a:p>
          <a:p>
            <a:r>
              <a:rPr lang="en-IN" sz="3300" b="1" dirty="0">
                <a:highlight>
                  <a:srgbClr val="C0C0C0"/>
                </a:highlight>
              </a:rPr>
              <a:t>Pseudo Retrieval-Augmented Generation</a:t>
            </a:r>
          </a:p>
          <a:p>
            <a:endParaRPr lang="en-IN" sz="3200" b="1" dirty="0">
              <a:highlight>
                <a:srgbClr val="C0C0C0"/>
              </a:highlight>
            </a:endParaRPr>
          </a:p>
          <a:p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209E2C5-5098-623C-98C7-13157674A56B}"/>
              </a:ext>
            </a:extLst>
          </p:cNvPr>
          <p:cNvSpPr txBox="1">
            <a:spLocks/>
          </p:cNvSpPr>
          <p:nvPr/>
        </p:nvSpPr>
        <p:spPr>
          <a:xfrm>
            <a:off x="729562" y="1535184"/>
            <a:ext cx="10596704" cy="5183667"/>
          </a:xfrm>
          <a:prstGeom prst="rect">
            <a:avLst/>
          </a:prstGeom>
        </p:spPr>
        <p:txBody>
          <a:bodyPr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/>
              <a:t>For </a:t>
            </a:r>
            <a:r>
              <a:rPr lang="en-IN" sz="3600" dirty="0">
                <a:highlight>
                  <a:srgbClr val="FFFF00"/>
                </a:highlight>
              </a:rPr>
              <a:t>Text</a:t>
            </a:r>
            <a:r>
              <a:rPr lang="en-IN" sz="3600" dirty="0"/>
              <a:t>:</a:t>
            </a:r>
          </a:p>
          <a:p>
            <a:pPr marL="987552" lvl="1" indent="-457200">
              <a:buFont typeface="+mj-lt"/>
              <a:buAutoNum type="arabicPeriod"/>
            </a:pPr>
            <a:r>
              <a:rPr lang="en-IN" sz="3600" dirty="0"/>
              <a:t>Load model from spacy : en_core_web_sm</a:t>
            </a:r>
          </a:p>
          <a:p>
            <a:pPr marL="987552" lvl="1" indent="-457200">
              <a:buFont typeface="+mj-lt"/>
              <a:buAutoNum type="arabicPeriod"/>
            </a:pPr>
            <a:r>
              <a:rPr lang="en-IN" sz="3600" dirty="0"/>
              <a:t>Specific RAG for specific topic/ query/ prompt e.g. High Risk Analysis report</a:t>
            </a:r>
          </a:p>
          <a:p>
            <a:pPr marL="987552" lvl="1" indent="-457200">
              <a:buFont typeface="+mj-lt"/>
              <a:buAutoNum type="arabicPeriod"/>
            </a:pPr>
            <a:r>
              <a:rPr lang="en-IN" sz="3600" dirty="0"/>
              <a:t>Case study : Terms and Conditions from Flipcart, Lenscart, Zomato </a:t>
            </a:r>
          </a:p>
        </p:txBody>
      </p:sp>
    </p:spTree>
    <p:extLst>
      <p:ext uri="{BB962C8B-B14F-4D97-AF65-F5344CB8AC3E}">
        <p14:creationId xmlns:p14="http://schemas.microsoft.com/office/powerpoint/2010/main" val="342529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2F8A5-B624-C7E6-5FAA-C6E3F5D08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5737B0-A7EA-06D9-1D9A-2BEEBFAF14F7}"/>
              </a:ext>
            </a:extLst>
          </p:cNvPr>
          <p:cNvSpPr txBox="1">
            <a:spLocks/>
          </p:cNvSpPr>
          <p:nvPr/>
        </p:nvSpPr>
        <p:spPr>
          <a:xfrm>
            <a:off x="1887524" y="259358"/>
            <a:ext cx="9555060" cy="1275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LighterRAG demo</a:t>
            </a:r>
          </a:p>
          <a:p>
            <a:r>
              <a:rPr lang="en-IN" sz="3300" b="1" dirty="0">
                <a:highlight>
                  <a:srgbClr val="C0C0C0"/>
                </a:highlight>
              </a:rPr>
              <a:t>Pseudo Retrieval-Augmented Generation</a:t>
            </a:r>
          </a:p>
          <a:p>
            <a:endParaRPr lang="en-IN" sz="3200" b="1" dirty="0">
              <a:highlight>
                <a:srgbClr val="C0C0C0"/>
              </a:highlight>
            </a:endParaRPr>
          </a:p>
          <a:p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4712CF-F62B-E07D-7415-D4809D0A8D1B}"/>
              </a:ext>
            </a:extLst>
          </p:cNvPr>
          <p:cNvSpPr txBox="1">
            <a:spLocks/>
          </p:cNvSpPr>
          <p:nvPr/>
        </p:nvSpPr>
        <p:spPr>
          <a:xfrm>
            <a:off x="729562" y="1535184"/>
            <a:ext cx="10596704" cy="5183667"/>
          </a:xfrm>
          <a:prstGeom prst="rect">
            <a:avLst/>
          </a:prstGeom>
        </p:spPr>
        <p:txBody>
          <a:bodyPr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/>
              <a:t>For </a:t>
            </a:r>
            <a:r>
              <a:rPr lang="en-IN" sz="3600" dirty="0">
                <a:highlight>
                  <a:srgbClr val="00FF00"/>
                </a:highlight>
              </a:rPr>
              <a:t>Image</a:t>
            </a:r>
            <a:r>
              <a:rPr lang="en-IN" sz="3600" dirty="0"/>
              <a:t>:</a:t>
            </a:r>
          </a:p>
          <a:p>
            <a:pPr marL="987552" lvl="1" indent="-457200">
              <a:buFont typeface="+mj-lt"/>
              <a:buAutoNum type="arabicPeriod"/>
            </a:pPr>
            <a:r>
              <a:rPr lang="en-IN" sz="3600" dirty="0"/>
              <a:t>Load model from YOLO : yolov8s.pt</a:t>
            </a:r>
          </a:p>
          <a:p>
            <a:pPr marL="987552" lvl="1" indent="-457200">
              <a:buFont typeface="+mj-lt"/>
              <a:buAutoNum type="arabicPeriod"/>
            </a:pPr>
            <a:r>
              <a:rPr lang="en-IN" sz="3600" dirty="0"/>
              <a:t>Specific RAG for specific topic/ query/ prompt e.g. Identify dominant category of products on shelf of a retail store, identify misplaced items</a:t>
            </a:r>
          </a:p>
          <a:p>
            <a:pPr marL="987552" lvl="1" indent="-457200">
              <a:buFont typeface="+mj-lt"/>
              <a:buAutoNum type="arabicPeriod"/>
            </a:pPr>
            <a:r>
              <a:rPr lang="en-IN" sz="3600" dirty="0"/>
              <a:t>Case study: </a:t>
            </a:r>
          </a:p>
          <a:p>
            <a:pPr marL="1444752" lvl="2" indent="-457200">
              <a:buFont typeface="+mj-lt"/>
              <a:buAutoNum type="arabicPeriod"/>
            </a:pPr>
            <a:r>
              <a:rPr lang="en-IN" sz="3400" dirty="0"/>
              <a:t>Lot of online available retail store shelf images</a:t>
            </a:r>
          </a:p>
          <a:p>
            <a:pPr marL="987552" lvl="1" indent="-457200">
              <a:buFont typeface="+mj-lt"/>
              <a:buAutoNum type="arabicPeriod"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119787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B471-40A0-3C67-C657-C9EB1803F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E427DC-873C-1AE1-08E2-6C9BFFA8C623}"/>
              </a:ext>
            </a:extLst>
          </p:cNvPr>
          <p:cNvSpPr txBox="1">
            <a:spLocks/>
          </p:cNvSpPr>
          <p:nvPr/>
        </p:nvSpPr>
        <p:spPr>
          <a:xfrm>
            <a:off x="1887524" y="259358"/>
            <a:ext cx="9555060" cy="1275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LighterRAG demo</a:t>
            </a:r>
          </a:p>
          <a:p>
            <a:r>
              <a:rPr lang="en-IN" sz="3300" b="1" dirty="0">
                <a:highlight>
                  <a:srgbClr val="C0C0C0"/>
                </a:highlight>
              </a:rPr>
              <a:t>Pseudo Retrieval-Augmented Generation</a:t>
            </a:r>
          </a:p>
          <a:p>
            <a:endParaRPr lang="en-IN" sz="3200" b="1" dirty="0">
              <a:highlight>
                <a:srgbClr val="C0C0C0"/>
              </a:highlight>
            </a:endParaRPr>
          </a:p>
          <a:p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2016AAA-DAC4-95D6-CE95-F2DAE27BF259}"/>
              </a:ext>
            </a:extLst>
          </p:cNvPr>
          <p:cNvSpPr txBox="1">
            <a:spLocks/>
          </p:cNvSpPr>
          <p:nvPr/>
        </p:nvSpPr>
        <p:spPr>
          <a:xfrm>
            <a:off x="729562" y="1535184"/>
            <a:ext cx="10596704" cy="5183667"/>
          </a:xfrm>
          <a:prstGeom prst="rect">
            <a:avLst/>
          </a:prstGeom>
        </p:spPr>
        <p:txBody>
          <a:bodyPr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600" dirty="0"/>
              <a:t>For </a:t>
            </a:r>
            <a:r>
              <a:rPr lang="en-IN" sz="3600" dirty="0">
                <a:highlight>
                  <a:srgbClr val="00FFFF"/>
                </a:highlight>
              </a:rPr>
              <a:t>Audio</a:t>
            </a:r>
            <a:r>
              <a:rPr lang="en-IN" sz="3600" dirty="0"/>
              <a:t>:</a:t>
            </a:r>
          </a:p>
          <a:p>
            <a:pPr marL="987552" lvl="1" indent="-457200">
              <a:buFont typeface="+mj-lt"/>
              <a:buAutoNum type="arabicPeriod"/>
            </a:pPr>
            <a:r>
              <a:rPr lang="en-IN" sz="3600" dirty="0"/>
              <a:t>Voice sentiment analysis</a:t>
            </a:r>
          </a:p>
          <a:p>
            <a:pPr marL="987552" lvl="1" indent="-457200">
              <a:buFont typeface="+mj-lt"/>
              <a:buAutoNum type="arabicPeriod"/>
            </a:pPr>
            <a:r>
              <a:rPr lang="en-IN" sz="3600" dirty="0"/>
              <a:t>Analyse Audio Features:</a:t>
            </a:r>
          </a:p>
          <a:p>
            <a:pPr marL="1444752" lvl="2" indent="-457200">
              <a:buFont typeface="+mj-lt"/>
              <a:buAutoNum type="arabicPeriod"/>
            </a:pPr>
            <a:r>
              <a:rPr lang="en-IN" sz="3600" i="1" dirty="0"/>
              <a:t>Volume (loudness)</a:t>
            </a:r>
          </a:p>
          <a:p>
            <a:pPr marL="1444752" lvl="2" indent="-457200">
              <a:buFont typeface="+mj-lt"/>
              <a:buAutoNum type="arabicPeriod"/>
            </a:pPr>
            <a:r>
              <a:rPr lang="en-IN" sz="3600" i="1" dirty="0"/>
              <a:t>Pitch/ Agitation : Angry, Unhappy, Loud noise</a:t>
            </a:r>
            <a:endParaRPr lang="en-IN" sz="3600" dirty="0"/>
          </a:p>
          <a:p>
            <a:pPr marL="987552" lvl="1" indent="-457200">
              <a:buFont typeface="+mj-lt"/>
              <a:buAutoNum type="arabicPeriod"/>
            </a:pPr>
            <a:r>
              <a:rPr lang="en-IN" sz="3600" dirty="0"/>
              <a:t>Case Study:</a:t>
            </a:r>
          </a:p>
          <a:p>
            <a:pPr marL="1444752" lvl="2" indent="-457200">
              <a:buFont typeface="+mj-lt"/>
              <a:buAutoNum type="arabicPeriod"/>
            </a:pPr>
            <a:r>
              <a:rPr lang="en-IN" sz="3400" dirty="0"/>
              <a:t>Audio from online sources</a:t>
            </a:r>
          </a:p>
          <a:p>
            <a:pPr marL="530352" lvl="1" indent="0">
              <a:buNone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85176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FA676-746A-5CB4-178A-2E7FB9B0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200FE34-36C9-9EF8-973C-DEC18D846A26}"/>
              </a:ext>
            </a:extLst>
          </p:cNvPr>
          <p:cNvSpPr txBox="1">
            <a:spLocks/>
          </p:cNvSpPr>
          <p:nvPr/>
        </p:nvSpPr>
        <p:spPr>
          <a:xfrm>
            <a:off x="1887524" y="259358"/>
            <a:ext cx="9555060" cy="1275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Light RAG demo – Gemini and Ollama prompt</a:t>
            </a:r>
          </a:p>
          <a:p>
            <a:r>
              <a:rPr lang="en-IN" sz="3300" b="1" dirty="0">
                <a:highlight>
                  <a:srgbClr val="C0C0C0"/>
                </a:highlight>
              </a:rPr>
              <a:t>Retrieval-Augmented Generation</a:t>
            </a:r>
          </a:p>
          <a:p>
            <a:endParaRPr lang="en-IN" sz="3200" b="1" dirty="0">
              <a:highlight>
                <a:srgbClr val="C0C0C0"/>
              </a:highlight>
            </a:endParaRPr>
          </a:p>
          <a:p>
            <a:endParaRPr lang="en-IN" sz="3200" b="1" dirty="0">
              <a:highlight>
                <a:srgbClr val="C0C0C0"/>
              </a:highlight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E9B7B49-B708-D751-B8C5-7068E3E22104}"/>
              </a:ext>
            </a:extLst>
          </p:cNvPr>
          <p:cNvSpPr txBox="1">
            <a:spLocks/>
          </p:cNvSpPr>
          <p:nvPr/>
        </p:nvSpPr>
        <p:spPr>
          <a:xfrm>
            <a:off x="729562" y="1535184"/>
            <a:ext cx="9943562" cy="2813979"/>
          </a:xfrm>
          <a:prstGeom prst="rect">
            <a:avLst/>
          </a:prstGeom>
        </p:spPr>
        <p:txBody>
          <a:bodyPr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hlinkClick r:id="rId2"/>
              </a:rPr>
              <a:t>https://gemini.google.com/share/e09c13ec1073</a:t>
            </a:r>
            <a:endParaRPr lang="en-US" sz="2400" b="1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B3F653F-A044-9941-CDF5-99B63FA07F30}"/>
              </a:ext>
            </a:extLst>
          </p:cNvPr>
          <p:cNvSpPr txBox="1">
            <a:spLocks/>
          </p:cNvSpPr>
          <p:nvPr/>
        </p:nvSpPr>
        <p:spPr>
          <a:xfrm>
            <a:off x="1887524" y="2791086"/>
            <a:ext cx="9555060" cy="12758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300" b="1" dirty="0">
                <a:highlight>
                  <a:srgbClr val="C0C0C0"/>
                </a:highlight>
              </a:rPr>
              <a:t>Actual Damo</a:t>
            </a:r>
            <a:endParaRPr lang="en-IN" sz="3200" b="1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7220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{67A6D264-8BAF-407C-82F6-3A983AB9D80A}tf10001105</Template>
  <TotalTime>1297</TotalTime>
  <Words>198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Franklin Gothic Book</vt:lpstr>
      <vt:lpstr>Crop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Ratnamala Swami</dc:creator>
  <cp:lastModifiedBy>Ratnamala Swami</cp:lastModifiedBy>
  <cp:revision>125</cp:revision>
  <dcterms:created xsi:type="dcterms:W3CDTF">2025-12-10T17:46:59Z</dcterms:created>
  <dcterms:modified xsi:type="dcterms:W3CDTF">2026-02-11T13:42:05Z</dcterms:modified>
</cp:coreProperties>
</file>